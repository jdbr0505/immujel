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82" d="100"/>
          <a:sy n="82" d="100"/>
        </p:scale>
        <p:origin x="691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Relationship Id="rId27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Jose Daniel Brice Rive" userId="e2d3824bf804942e" providerId="LiveId" clId="{3395978E-61CF-4A93-9FA7-0CDC03C39DE0}"/>
    <pc:docChg chg="undo custSel modSld">
      <pc:chgData name="Jose Daniel Brice Rive" userId="e2d3824bf804942e" providerId="LiveId" clId="{3395978E-61CF-4A93-9FA7-0CDC03C39DE0}" dt="2026-07-16T16:46:49.657" v="3" actId="14100"/>
      <pc:docMkLst>
        <pc:docMk/>
      </pc:docMkLst>
      <pc:sldChg chg="delSp modSp mod">
        <pc:chgData name="Jose Daniel Brice Rive" userId="e2d3824bf804942e" providerId="LiveId" clId="{3395978E-61CF-4A93-9FA7-0CDC03C39DE0}" dt="2026-07-16T16:46:41.187" v="1" actId="478"/>
        <pc:sldMkLst>
          <pc:docMk/>
          <pc:sldMk cId="0" sldId="257"/>
        </pc:sldMkLst>
        <pc:spChg chg="del mod">
          <ac:chgData name="Jose Daniel Brice Rive" userId="e2d3824bf804942e" providerId="LiveId" clId="{3395978E-61CF-4A93-9FA7-0CDC03C39DE0}" dt="2026-07-16T16:46:41.187" v="1" actId="478"/>
          <ac:spMkLst>
            <pc:docMk/>
            <pc:sldMk cId="0" sldId="257"/>
            <ac:spMk id="20" creationId="{00000000-0000-0000-0000-000000000000}"/>
          </ac:spMkLst>
        </pc:spChg>
      </pc:sldChg>
      <pc:sldChg chg="modSp mod">
        <pc:chgData name="Jose Daniel Brice Rive" userId="e2d3824bf804942e" providerId="LiveId" clId="{3395978E-61CF-4A93-9FA7-0CDC03C39DE0}" dt="2026-07-16T16:46:49.657" v="3" actId="14100"/>
        <pc:sldMkLst>
          <pc:docMk/>
          <pc:sldMk cId="0" sldId="258"/>
        </pc:sldMkLst>
        <pc:spChg chg="mod">
          <ac:chgData name="Jose Daniel Brice Rive" userId="e2d3824bf804942e" providerId="LiveId" clId="{3395978E-61CF-4A93-9FA7-0CDC03C39DE0}" dt="2026-07-16T16:46:49.657" v="3" actId="14100"/>
          <ac:spMkLst>
            <pc:docMk/>
            <pc:sldMk cId="0" sldId="258"/>
            <ac:spMk id="5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2791628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216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645920"/>
            <a:ext cx="5029200" cy="5029200"/>
          </a:xfrm>
          <a:prstGeom prst="ellipse">
            <a:avLst/>
          </a:prstGeom>
          <a:solidFill>
            <a:srgbClr val="A506AD">
              <a:alpha val="22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828800" y="4297680"/>
            <a:ext cx="5029200" cy="5029200"/>
          </a:xfrm>
          <a:prstGeom prst="ellipse">
            <a:avLst/>
          </a:prstGeom>
          <a:solidFill>
            <a:srgbClr val="0362CF">
              <a:alpha val="22000"/>
            </a:srgbClr>
          </a:solidFill>
          <a:ln/>
        </p:spPr>
      </p:sp>
      <p:pic>
        <p:nvPicPr>
          <p:cNvPr id="4" name="Image 0" descr="./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30952" y="685800"/>
            <a:ext cx="1508760" cy="150876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0" y="2514600"/>
            <a:ext cx="121889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kern="0" spc="300" dirty="0">
                <a:solidFill>
                  <a:srgbClr val="F66E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TALLER DE CAPACITACIÓN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457200" y="2880360"/>
            <a:ext cx="1127455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Plataforma Web IMMUJEL</a:t>
            </a:r>
            <a:endParaRPr lang="en-US" sz="4200" dirty="0"/>
          </a:p>
        </p:txBody>
      </p:sp>
      <p:sp>
        <p:nvSpPr>
          <p:cNvPr id="7" name="Text 4"/>
          <p:cNvSpPr/>
          <p:nvPr/>
        </p:nvSpPr>
        <p:spPr>
          <a:xfrm>
            <a:off x="457200" y="3886200"/>
            <a:ext cx="112745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 guía práctica para asesoras y personal del instituto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457200" y="6035040"/>
            <a:ext cx="11274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Instituto Municipal de la Mujer de Lagunillas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A506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BIENVENIDA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216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¿Qué vamos a ver hoy?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502920" cy="502920"/>
          </a:xfrm>
          <a:prstGeom prst="ellipse">
            <a:avLst/>
          </a:prstGeom>
          <a:solidFill>
            <a:srgbClr val="A506AD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9659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371600" y="1911096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21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sitio público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1371600" y="2276856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Registro, inicio de sesión, formulario de asesoría y publicaciones.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40080" y="3017520"/>
            <a:ext cx="502920" cy="502920"/>
          </a:xfrm>
          <a:prstGeom prst="ellipse">
            <a:avLst/>
          </a:prstGeom>
          <a:solidFill>
            <a:srgbClr val="A506AD"/>
          </a:solidFill>
          <a:ln/>
        </p:spPr>
      </p:sp>
      <p:sp>
        <p:nvSpPr>
          <p:cNvPr id="9" name="Text 7"/>
          <p:cNvSpPr/>
          <p:nvPr/>
        </p:nvSpPr>
        <p:spPr>
          <a:xfrm>
            <a:off x="640080" y="30175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1371600" y="2962656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21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Panel de Administración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1371600" y="3328416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Gestión de solicitudes, publicación de contenido y roles del equipo.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40080" y="4069080"/>
            <a:ext cx="502920" cy="502920"/>
          </a:xfrm>
          <a:prstGeom prst="ellipse">
            <a:avLst/>
          </a:prstGeom>
          <a:solidFill>
            <a:srgbClr val="A506AD"/>
          </a:solidFill>
          <a:ln/>
        </p:spPr>
      </p:sp>
      <p:sp>
        <p:nvSpPr>
          <p:cNvPr id="13" name="Text 11"/>
          <p:cNvSpPr/>
          <p:nvPr/>
        </p:nvSpPr>
        <p:spPr>
          <a:xfrm>
            <a:off x="640080" y="40690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1371600" y="4014216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21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Práctica guiada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1371600" y="4379976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quien realizará las tareas principales en su propia cuenta.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40080" y="5120640"/>
            <a:ext cx="502920" cy="502920"/>
          </a:xfrm>
          <a:prstGeom prst="ellipse">
            <a:avLst/>
          </a:prstGeom>
          <a:solidFill>
            <a:srgbClr val="A506AD"/>
          </a:solidFill>
          <a:ln/>
        </p:spPr>
      </p:sp>
      <p:sp>
        <p:nvSpPr>
          <p:cNvPr id="17" name="Text 15"/>
          <p:cNvSpPr/>
          <p:nvPr/>
        </p:nvSpPr>
        <p:spPr>
          <a:xfrm>
            <a:off x="640080" y="51206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1371600" y="5065776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21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Preguntas y cierre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1371600" y="5431536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Dudas, buenas prácticas y a quién contactar si algo falla.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IMMUJEL · Taller de Capacitación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9902952" y="647395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216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A506AD"/>
          </a:solidFill>
          <a:ln/>
        </p:spPr>
      </p:sp>
      <p:sp>
        <p:nvSpPr>
          <p:cNvPr id="3" name="Text 1"/>
          <p:cNvSpPr/>
          <p:nvPr/>
        </p:nvSpPr>
        <p:spPr>
          <a:xfrm>
            <a:off x="914400" y="265176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300" dirty="0">
                <a:solidFill>
                  <a:srgbClr val="F66E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PARTE 1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914400" y="2971800"/>
            <a:ext cx="100584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El sitio público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914400" y="4069080"/>
            <a:ext cx="8686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 que cualquier usuaria puede hacer en la plataforma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IMMUJEL · Taller de Capacitación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9902952" y="647395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A506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PANORAMA GENERAL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216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¿Qué es la plataforma IMMUJEL?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554480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sitio web donde cualquier mujer del municipio puede pedir apoyo, y donde el instituto comparte información institucional.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2377440"/>
            <a:ext cx="2697480" cy="3108960"/>
          </a:xfrm>
          <a:prstGeom prst="roundRect">
            <a:avLst>
              <a:gd name="adj" fmla="val 4068"/>
            </a:avLst>
          </a:prstGeom>
          <a:solidFill>
            <a:srgbClr val="FAF9FC"/>
          </a:solidFill>
          <a:ln/>
          <a:effectLst>
            <a:outerShdw blurRad="76200" dist="38100" dir="5400000" algn="bl" rotWithShape="0">
              <a:srgbClr val="1A1A1A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1485900" y="2697480"/>
            <a:ext cx="822960" cy="822960"/>
          </a:xfrm>
          <a:prstGeom prst="ellipse">
            <a:avLst/>
          </a:prstGeom>
          <a:solidFill>
            <a:srgbClr val="A506AD"/>
          </a:solidFill>
          <a:ln/>
        </p:spPr>
      </p:sp>
      <p:sp>
        <p:nvSpPr>
          <p:cNvPr id="7" name="Text 5"/>
          <p:cNvSpPr/>
          <p:nvPr/>
        </p:nvSpPr>
        <p:spPr>
          <a:xfrm>
            <a:off x="1485900" y="269748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📋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685800" y="3703320"/>
            <a:ext cx="2423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21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Asesorías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777240" y="4069080"/>
            <a:ext cx="22402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Formulario para pedir ayuda jurídica, psicológica o social.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3474720" y="2377440"/>
            <a:ext cx="2697480" cy="3108960"/>
          </a:xfrm>
          <a:prstGeom prst="roundRect">
            <a:avLst>
              <a:gd name="adj" fmla="val 4068"/>
            </a:avLst>
          </a:prstGeom>
          <a:solidFill>
            <a:srgbClr val="FAF9FC"/>
          </a:solidFill>
          <a:ln/>
          <a:effectLst>
            <a:outerShdw blurRad="76200" dist="38100" dir="5400000" algn="bl" rotWithShape="0">
              <a:srgbClr val="1A1A1A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411980" y="2697480"/>
            <a:ext cx="822960" cy="822960"/>
          </a:xfrm>
          <a:prstGeom prst="ellipse">
            <a:avLst/>
          </a:prstGeom>
          <a:solidFill>
            <a:srgbClr val="A506AD"/>
          </a:solidFill>
          <a:ln/>
        </p:spPr>
      </p:sp>
      <p:sp>
        <p:nvSpPr>
          <p:cNvPr id="12" name="Text 10"/>
          <p:cNvSpPr/>
          <p:nvPr/>
        </p:nvSpPr>
        <p:spPr>
          <a:xfrm>
            <a:off x="4411980" y="269748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📰</a:t>
            </a:r>
            <a:endParaRPr lang="en-US" sz="3000" dirty="0"/>
          </a:p>
        </p:txBody>
      </p:sp>
      <p:sp>
        <p:nvSpPr>
          <p:cNvPr id="13" name="Text 11"/>
          <p:cNvSpPr/>
          <p:nvPr/>
        </p:nvSpPr>
        <p:spPr>
          <a:xfrm>
            <a:off x="3611880" y="3703320"/>
            <a:ext cx="2423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21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Semanario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3703320" y="4069080"/>
            <a:ext cx="22402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Resumen de actividades y logros de la semana.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6400800" y="2377440"/>
            <a:ext cx="2697480" cy="3108960"/>
          </a:xfrm>
          <a:prstGeom prst="roundRect">
            <a:avLst>
              <a:gd name="adj" fmla="val 4068"/>
            </a:avLst>
          </a:prstGeom>
          <a:solidFill>
            <a:srgbClr val="FAF9FC"/>
          </a:solidFill>
          <a:ln/>
          <a:effectLst>
            <a:outerShdw blurRad="76200" dist="38100" dir="5400000" algn="bl" rotWithShape="0">
              <a:srgbClr val="1A1A1A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7338060" y="2697480"/>
            <a:ext cx="822960" cy="822960"/>
          </a:xfrm>
          <a:prstGeom prst="ellipse">
            <a:avLst/>
          </a:prstGeom>
          <a:solidFill>
            <a:srgbClr val="A506AD"/>
          </a:solidFill>
          <a:ln/>
        </p:spPr>
      </p:sp>
      <p:sp>
        <p:nvSpPr>
          <p:cNvPr id="17" name="Text 15"/>
          <p:cNvSpPr/>
          <p:nvPr/>
        </p:nvSpPr>
        <p:spPr>
          <a:xfrm>
            <a:off x="7338060" y="269748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📢</a:t>
            </a:r>
            <a:endParaRPr lang="en-US" sz="3000" dirty="0"/>
          </a:p>
        </p:txBody>
      </p:sp>
      <p:sp>
        <p:nvSpPr>
          <p:cNvPr id="18" name="Text 16"/>
          <p:cNvSpPr/>
          <p:nvPr/>
        </p:nvSpPr>
        <p:spPr>
          <a:xfrm>
            <a:off x="6537960" y="3703320"/>
            <a:ext cx="2423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21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Noticiero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6629400" y="4069080"/>
            <a:ext cx="22402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Anuncios y noticias puntuales del instituto.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9326880" y="2377440"/>
            <a:ext cx="2697480" cy="3108960"/>
          </a:xfrm>
          <a:prstGeom prst="roundRect">
            <a:avLst>
              <a:gd name="adj" fmla="val 4068"/>
            </a:avLst>
          </a:prstGeom>
          <a:solidFill>
            <a:srgbClr val="FAF9FC"/>
          </a:solidFill>
          <a:ln/>
          <a:effectLst>
            <a:outerShdw blurRad="76200" dist="38100" dir="5400000" algn="bl" rotWithShape="0">
              <a:srgbClr val="1A1A1A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10264140" y="2697480"/>
            <a:ext cx="822960" cy="822960"/>
          </a:xfrm>
          <a:prstGeom prst="ellipse">
            <a:avLst/>
          </a:prstGeom>
          <a:solidFill>
            <a:srgbClr val="A506AD"/>
          </a:solidFill>
          <a:ln/>
        </p:spPr>
      </p:sp>
      <p:sp>
        <p:nvSpPr>
          <p:cNvPr id="22" name="Text 20"/>
          <p:cNvSpPr/>
          <p:nvPr/>
        </p:nvSpPr>
        <p:spPr>
          <a:xfrm>
            <a:off x="10264140" y="269748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🎓</a:t>
            </a:r>
            <a:endParaRPr lang="en-US" sz="3000" dirty="0"/>
          </a:p>
        </p:txBody>
      </p:sp>
      <p:sp>
        <p:nvSpPr>
          <p:cNvPr id="23" name="Text 21"/>
          <p:cNvSpPr/>
          <p:nvPr/>
        </p:nvSpPr>
        <p:spPr>
          <a:xfrm>
            <a:off x="9464040" y="3703320"/>
            <a:ext cx="2423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21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Programas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9555480" y="4069080"/>
            <a:ext cx="22402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Talleres y formación para las mujeres del municipio.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IMMUJEL · Taller de Capacitación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9902952" y="647395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A506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PRIMEROS PASOS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216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Crear una cuenta e iniciar sesión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828800"/>
            <a:ext cx="457200" cy="457200"/>
          </a:xfrm>
          <a:prstGeom prst="ellipse">
            <a:avLst/>
          </a:prstGeom>
          <a:solidFill>
            <a:srgbClr val="A506AD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8288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1280160" y="1773936"/>
            <a:ext cx="4480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21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Entra a immujel.vercel.app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280160" y="2084832"/>
            <a:ext cx="4480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 haz clic en "Registrarse" (esquina superior derecha).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40080" y="2788920"/>
            <a:ext cx="457200" cy="457200"/>
          </a:xfrm>
          <a:prstGeom prst="ellipse">
            <a:avLst/>
          </a:prstGeom>
          <a:solidFill>
            <a:srgbClr val="A506AD"/>
          </a:solidFill>
          <a:ln/>
        </p:spPr>
      </p:sp>
      <p:sp>
        <p:nvSpPr>
          <p:cNvPr id="9" name="Text 7"/>
          <p:cNvSpPr/>
          <p:nvPr/>
        </p:nvSpPr>
        <p:spPr>
          <a:xfrm>
            <a:off x="640080" y="27889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1280160" y="2734056"/>
            <a:ext cx="4480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21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Completa tus datos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1280160" y="3044952"/>
            <a:ext cx="4480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Nombre, correo, usuario y contraseña (mínimo 6 caracteres).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40080" y="3749040"/>
            <a:ext cx="457200" cy="457200"/>
          </a:xfrm>
          <a:prstGeom prst="ellipse">
            <a:avLst/>
          </a:prstGeom>
          <a:solidFill>
            <a:srgbClr val="A506AD"/>
          </a:solidFill>
          <a:ln/>
        </p:spPr>
      </p:sp>
      <p:sp>
        <p:nvSpPr>
          <p:cNvPr id="13" name="Text 11"/>
          <p:cNvSpPr/>
          <p:nvPr/>
        </p:nvSpPr>
        <p:spPr>
          <a:xfrm>
            <a:off x="640080" y="37490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1280160" y="3694176"/>
            <a:ext cx="4480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21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Confirma tu correo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1280160" y="4005072"/>
            <a:ext cx="4480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Haz clic en el enlace que llega a tu bandeja de entrada.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40080" y="4709160"/>
            <a:ext cx="457200" cy="457200"/>
          </a:xfrm>
          <a:prstGeom prst="ellipse">
            <a:avLst/>
          </a:prstGeom>
          <a:solidFill>
            <a:srgbClr val="A506AD"/>
          </a:solidFill>
          <a:ln/>
        </p:spPr>
      </p:sp>
      <p:sp>
        <p:nvSpPr>
          <p:cNvPr id="17" name="Text 15"/>
          <p:cNvSpPr/>
          <p:nvPr/>
        </p:nvSpPr>
        <p:spPr>
          <a:xfrm>
            <a:off x="640080" y="47091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1280160" y="4654296"/>
            <a:ext cx="4480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21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Inicia sesión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1280160" y="4965192"/>
            <a:ext cx="4480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 tu usuario o correo y tu contraseña, desde "Iniciar Sesión".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6309360" y="1828800"/>
            <a:ext cx="5257800" cy="3794760"/>
          </a:xfrm>
          <a:prstGeom prst="roundRect">
            <a:avLst>
              <a:gd name="adj" fmla="val 2892"/>
            </a:avLst>
          </a:prstGeom>
          <a:solidFill>
            <a:srgbClr val="02162E"/>
          </a:solidFill>
          <a:ln/>
        </p:spPr>
      </p:sp>
      <p:sp>
        <p:nvSpPr>
          <p:cNvPr id="21" name="Shape 19"/>
          <p:cNvSpPr/>
          <p:nvPr/>
        </p:nvSpPr>
        <p:spPr>
          <a:xfrm>
            <a:off x="6720840" y="2194560"/>
            <a:ext cx="640080" cy="640080"/>
          </a:xfrm>
          <a:prstGeom prst="ellipse">
            <a:avLst/>
          </a:prstGeom>
          <a:solidFill>
            <a:srgbClr val="F66EFD"/>
          </a:solidFill>
          <a:ln/>
        </p:spPr>
      </p:sp>
      <p:sp>
        <p:nvSpPr>
          <p:cNvPr id="22" name="Text 20"/>
          <p:cNvSpPr/>
          <p:nvPr/>
        </p:nvSpPr>
        <p:spPr>
          <a:xfrm>
            <a:off x="6720840" y="21945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021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🔑</a:t>
            </a:r>
            <a:endParaRPr lang="en-US" sz="2600" dirty="0"/>
          </a:p>
        </p:txBody>
      </p:sp>
      <p:sp>
        <p:nvSpPr>
          <p:cNvPr id="23" name="Text 21"/>
          <p:cNvSpPr/>
          <p:nvPr/>
        </p:nvSpPr>
        <p:spPr>
          <a:xfrm>
            <a:off x="7543800" y="224028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¿Olvidó su contraseña?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6720840" y="3063240"/>
            <a:ext cx="45720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50000"/>
              </a:lnSpc>
              <a:buNone/>
            </a:pPr>
            <a:r>
              <a:rPr lang="en-US" sz="1300" b="1" dirty="0">
                <a:solidFill>
                  <a:srgbClr val="F66E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</a:t>
            </a:r>
            <a:r>
              <a:rPr lang="en-US" sz="13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 en "¿Olvidaste tu contraseña?"
</a:t>
            </a:r>
            <a:r>
              <a:rPr lang="en-US" sz="1300" b="1" dirty="0">
                <a:solidFill>
                  <a:srgbClr val="F66E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</a:t>
            </a:r>
            <a:r>
              <a:rPr lang="en-US" sz="13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Escribe tu correo registrado
</a:t>
            </a:r>
            <a:r>
              <a:rPr lang="en-US" sz="1300" b="1" dirty="0">
                <a:solidFill>
                  <a:srgbClr val="F66E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</a:t>
            </a:r>
            <a:r>
              <a:rPr lang="en-US" sz="13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Sigue el enlace del correo recibido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720840" y="4709160"/>
            <a:ext cx="4572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Tip: guarden la dirección del sitio como acceso directo en el celular.</a:t>
            </a:r>
            <a:endParaRPr lang="en-US" sz="1150" dirty="0"/>
          </a:p>
        </p:txBody>
      </p:sp>
      <p:sp>
        <p:nvSpPr>
          <p:cNvPr id="26" name="Text 24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IMMUJEL · Taller de Capacitación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9902952" y="647395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A506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FUNCIÓN CLAVE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216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El formulario de asesoría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508760"/>
            <a:ext cx="10789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Menú SERVICIOS → Asesorías. Es la puerta de entrada para que cualquier mujer pida ayuda.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48640" y="2194560"/>
            <a:ext cx="457200" cy="457200"/>
          </a:xfrm>
          <a:prstGeom prst="ellipse">
            <a:avLst/>
          </a:prstGeom>
          <a:solidFill>
            <a:srgbClr val="A506AD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21945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188720" y="2139696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21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Elegir modo normal o incógnito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188720" y="2450592"/>
            <a:ext cx="5029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modo incógnito solo pide teléfono y descripción.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48640" y="3154680"/>
            <a:ext cx="457200" cy="457200"/>
          </a:xfrm>
          <a:prstGeom prst="ellipse">
            <a:avLst/>
          </a:prstGeom>
          <a:solidFill>
            <a:srgbClr val="A506AD"/>
          </a:solidFill>
          <a:ln/>
        </p:spPr>
      </p:sp>
      <p:sp>
        <p:nvSpPr>
          <p:cNvPr id="10" name="Text 8"/>
          <p:cNvSpPr/>
          <p:nvPr/>
        </p:nvSpPr>
        <p:spPr>
          <a:xfrm>
            <a:off x="548640" y="31546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1188720" y="3099816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21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Completar los datos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1188720" y="3410712"/>
            <a:ext cx="5029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Nombre, cédula, teléfono, correo, parroquia y descripción.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48640" y="4114800"/>
            <a:ext cx="457200" cy="457200"/>
          </a:xfrm>
          <a:prstGeom prst="ellipse">
            <a:avLst/>
          </a:prstGeom>
          <a:solidFill>
            <a:srgbClr val="A506AD"/>
          </a:solidFill>
          <a:ln/>
        </p:spPr>
      </p:sp>
      <p:sp>
        <p:nvSpPr>
          <p:cNvPr id="14" name="Text 12"/>
          <p:cNvSpPr/>
          <p:nvPr/>
        </p:nvSpPr>
        <p:spPr>
          <a:xfrm>
            <a:off x="548640" y="41148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1188720" y="4059936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21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Enviar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1188720" y="4370832"/>
            <a:ext cx="5029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solicitud llega automáticamente al Panel de Administración.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583680" y="2148840"/>
            <a:ext cx="5029200" cy="3017520"/>
          </a:xfrm>
          <a:prstGeom prst="roundRect">
            <a:avLst>
              <a:gd name="adj" fmla="val 3636"/>
            </a:avLst>
          </a:prstGeom>
          <a:solidFill>
            <a:srgbClr val="FFF4FE"/>
          </a:solidFill>
          <a:ln w="12700">
            <a:solidFill>
              <a:srgbClr val="F66EFD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903720" y="2423160"/>
            <a:ext cx="594360" cy="594360"/>
          </a:xfrm>
          <a:prstGeom prst="ellipse">
            <a:avLst/>
          </a:prstGeom>
          <a:solidFill>
            <a:srgbClr val="F66EFD"/>
          </a:solidFill>
          <a:ln/>
        </p:spPr>
      </p:sp>
      <p:sp>
        <p:nvSpPr>
          <p:cNvPr id="19" name="Text 17"/>
          <p:cNvSpPr/>
          <p:nvPr/>
        </p:nvSpPr>
        <p:spPr>
          <a:xfrm>
            <a:off x="6903720" y="242316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🕵</a:t>
            </a:r>
            <a:endParaRPr lang="en-US" sz="2400" dirty="0"/>
          </a:p>
        </p:txBody>
      </p:sp>
      <p:sp>
        <p:nvSpPr>
          <p:cNvPr id="20" name="Text 18"/>
          <p:cNvSpPr/>
          <p:nvPr/>
        </p:nvSpPr>
        <p:spPr>
          <a:xfrm>
            <a:off x="7635240" y="2450592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7A0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Modo incógnito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6903720" y="3063240"/>
            <a:ext cx="438912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4B1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Pensado para situaciones sensibles: la persona no necesita dar su nombre completo para pedir ayuda. Solo se guarda su teléfono y la descripción de la situación.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IMMUJEL · Taller de Capacitación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9902952" y="647395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A506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MANTENERSE INFORMADAS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216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Publicaciones y notificaciones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2103120"/>
            <a:ext cx="914400" cy="914400"/>
          </a:xfrm>
          <a:prstGeom prst="ellipse">
            <a:avLst/>
          </a:prstGeom>
          <a:solidFill>
            <a:srgbClr val="0362CF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210312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📰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365760" y="3200400"/>
            <a:ext cx="3566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21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Semanario y Noticiero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457200" y="3794760"/>
            <a:ext cx="33832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5000"/>
              </a:lnSpc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Menú SERVICIOS. Cada sección tiene un buscador para encontrar publicaciones anteriores.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343400" y="2103120"/>
            <a:ext cx="914400" cy="914400"/>
          </a:xfrm>
          <a:prstGeom prst="ellipse">
            <a:avLst/>
          </a:prstGeom>
          <a:solidFill>
            <a:srgbClr val="0362CF"/>
          </a:solidFill>
          <a:ln/>
        </p:spPr>
      </p:sp>
      <p:sp>
        <p:nvSpPr>
          <p:cNvPr id="9" name="Text 7"/>
          <p:cNvSpPr/>
          <p:nvPr/>
        </p:nvSpPr>
        <p:spPr>
          <a:xfrm>
            <a:off x="4343400" y="210312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🔔</a:t>
            </a:r>
            <a:endParaRPr lang="en-US" sz="3200" dirty="0"/>
          </a:p>
        </p:txBody>
      </p:sp>
      <p:sp>
        <p:nvSpPr>
          <p:cNvPr id="10" name="Text 8"/>
          <p:cNvSpPr/>
          <p:nvPr/>
        </p:nvSpPr>
        <p:spPr>
          <a:xfrm>
            <a:off x="4069080" y="3200400"/>
            <a:ext cx="3566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21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Activar notificaciones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4160520" y="3794760"/>
            <a:ext cx="33832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5000"/>
              </a:lnSpc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 en el ícono de campana junto a tu nombre, y "Permitir" en el navegador.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8046720" y="2103120"/>
            <a:ext cx="914400" cy="914400"/>
          </a:xfrm>
          <a:prstGeom prst="ellipse">
            <a:avLst/>
          </a:prstGeom>
          <a:solidFill>
            <a:srgbClr val="0362CF"/>
          </a:solidFill>
          <a:ln/>
        </p:spPr>
      </p:sp>
      <p:sp>
        <p:nvSpPr>
          <p:cNvPr id="13" name="Text 11"/>
          <p:cNvSpPr/>
          <p:nvPr/>
        </p:nvSpPr>
        <p:spPr>
          <a:xfrm>
            <a:off x="8046720" y="210312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📱</a:t>
            </a:r>
            <a:endParaRPr lang="en-US" sz="3200" dirty="0"/>
          </a:p>
        </p:txBody>
      </p:sp>
      <p:sp>
        <p:nvSpPr>
          <p:cNvPr id="14" name="Text 12"/>
          <p:cNvSpPr/>
          <p:nvPr/>
        </p:nvSpPr>
        <p:spPr>
          <a:xfrm>
            <a:off x="7772400" y="3200400"/>
            <a:ext cx="3566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21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Funciona en cualquier dispositivo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7863840" y="3794760"/>
            <a:ext cx="33832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5000"/>
              </a:lnSpc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Computadora, tablet o celular: la experiencia es la misma.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IMMUJEL · Taller de Capacitación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9902952" y="647395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216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A506AD"/>
          </a:solidFill>
          <a:ln/>
        </p:spPr>
      </p:sp>
      <p:sp>
        <p:nvSpPr>
          <p:cNvPr id="3" name="Text 1"/>
          <p:cNvSpPr/>
          <p:nvPr/>
        </p:nvSpPr>
        <p:spPr>
          <a:xfrm>
            <a:off x="914400" y="265176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300" dirty="0">
                <a:solidFill>
                  <a:srgbClr val="F66E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PARTE 2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914400" y="2971800"/>
            <a:ext cx="100584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Panel de Administración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914400" y="4069080"/>
            <a:ext cx="8686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Exclusivo para asesoras y personal autorizado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IMMUJEL · Taller de Capacitación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9902952" y="647395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A506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ACCESO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216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Entrar al panel y roles del equipo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50876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 la sesión iniciada, busca el botón morado "Admin" junto a tu nombre, arriba a la derecha.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640080" y="2286000"/>
            <a:ext cx="3520440" cy="3291840"/>
          </a:xfrm>
          <a:prstGeom prst="roundRect">
            <a:avLst>
              <a:gd name="adj" fmla="val 3333"/>
            </a:avLst>
          </a:prstGeom>
          <a:solidFill>
            <a:srgbClr val="E9E4F5"/>
          </a:solidFill>
          <a:ln/>
        </p:spPr>
      </p:sp>
      <p:sp>
        <p:nvSpPr>
          <p:cNvPr id="6" name="Text 4"/>
          <p:cNvSpPr/>
          <p:nvPr/>
        </p:nvSpPr>
        <p:spPr>
          <a:xfrm>
            <a:off x="914400" y="2560320"/>
            <a:ext cx="914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dirty="0">
                <a:solidFill>
                  <a:srgbClr val="000000"/>
                </a:solidFill>
              </a:rPr>
              <a:t>👤</a:t>
            </a:r>
            <a:endParaRPr lang="en-US" sz="3400" dirty="0"/>
          </a:p>
        </p:txBody>
      </p:sp>
      <p:sp>
        <p:nvSpPr>
          <p:cNvPr id="7" name="Text 5"/>
          <p:cNvSpPr/>
          <p:nvPr/>
        </p:nvSpPr>
        <p:spPr>
          <a:xfrm>
            <a:off x="914400" y="324612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021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Usuaria</a:t>
            </a:r>
            <a:endParaRPr lang="en-US" sz="1900" dirty="0"/>
          </a:p>
        </p:txBody>
      </p:sp>
      <p:sp>
        <p:nvSpPr>
          <p:cNvPr id="8" name="Text 6"/>
          <p:cNvSpPr/>
          <p:nvPr/>
        </p:nvSpPr>
        <p:spPr>
          <a:xfrm>
            <a:off x="914400" y="3749040"/>
            <a:ext cx="30175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021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Envía solicitudes y ve publicaciones. Sin acceso al panel.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4389120" y="2286000"/>
            <a:ext cx="3520440" cy="3291840"/>
          </a:xfrm>
          <a:prstGeom prst="roundRect">
            <a:avLst>
              <a:gd name="adj" fmla="val 3333"/>
            </a:avLst>
          </a:prstGeom>
          <a:solidFill>
            <a:srgbClr val="0362CF"/>
          </a:solidFill>
          <a:ln/>
        </p:spPr>
      </p:sp>
      <p:sp>
        <p:nvSpPr>
          <p:cNvPr id="10" name="Text 8"/>
          <p:cNvSpPr/>
          <p:nvPr/>
        </p:nvSpPr>
        <p:spPr>
          <a:xfrm>
            <a:off x="4663440" y="2560320"/>
            <a:ext cx="914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dirty="0">
                <a:solidFill>
                  <a:srgbClr val="000000"/>
                </a:solidFill>
              </a:rPr>
              <a:t>🛡️</a:t>
            </a:r>
            <a:endParaRPr lang="en-US" sz="3400" dirty="0"/>
          </a:p>
        </p:txBody>
      </p:sp>
      <p:sp>
        <p:nvSpPr>
          <p:cNvPr id="11" name="Text 9"/>
          <p:cNvSpPr/>
          <p:nvPr/>
        </p:nvSpPr>
        <p:spPr>
          <a:xfrm>
            <a:off x="4663440" y="324612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Asesora</a:t>
            </a:r>
            <a:endParaRPr lang="en-US" sz="1900" dirty="0"/>
          </a:p>
        </p:txBody>
      </p:sp>
      <p:sp>
        <p:nvSpPr>
          <p:cNvPr id="12" name="Text 10"/>
          <p:cNvSpPr/>
          <p:nvPr/>
        </p:nvSpPr>
        <p:spPr>
          <a:xfrm>
            <a:off x="4663440" y="3749040"/>
            <a:ext cx="30175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Gestiona solicitudes y publica contenido en el panel.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8138160" y="2286000"/>
            <a:ext cx="3520440" cy="3291840"/>
          </a:xfrm>
          <a:prstGeom prst="roundRect">
            <a:avLst>
              <a:gd name="adj" fmla="val 3333"/>
            </a:avLst>
          </a:prstGeom>
          <a:solidFill>
            <a:srgbClr val="A506AD"/>
          </a:solidFill>
          <a:ln/>
        </p:spPr>
      </p:sp>
      <p:sp>
        <p:nvSpPr>
          <p:cNvPr id="14" name="Text 12"/>
          <p:cNvSpPr/>
          <p:nvPr/>
        </p:nvSpPr>
        <p:spPr>
          <a:xfrm>
            <a:off x="8412480" y="2560320"/>
            <a:ext cx="914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dirty="0">
                <a:solidFill>
                  <a:srgbClr val="000000"/>
                </a:solidFill>
              </a:rPr>
              <a:t>👑</a:t>
            </a:r>
            <a:endParaRPr lang="en-US" sz="3400" dirty="0"/>
          </a:p>
        </p:txBody>
      </p:sp>
      <p:sp>
        <p:nvSpPr>
          <p:cNvPr id="15" name="Text 13"/>
          <p:cNvSpPr/>
          <p:nvPr/>
        </p:nvSpPr>
        <p:spPr>
          <a:xfrm>
            <a:off x="8412480" y="324612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</a:t>
            </a:r>
            <a:endParaRPr lang="en-US" sz="1900" dirty="0"/>
          </a:p>
        </p:txBody>
      </p:sp>
      <p:sp>
        <p:nvSpPr>
          <p:cNvPr id="16" name="Text 14"/>
          <p:cNvSpPr/>
          <p:nvPr/>
        </p:nvSpPr>
        <p:spPr>
          <a:xfrm>
            <a:off x="8412480" y="3749040"/>
            <a:ext cx="30175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Acceso completo, incluyendo el control de roles del equipo.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IMMUJEL · Taller de Capacitación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9902952" y="647395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A506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PESTAÑA ASESORÍAS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216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El tablero de solicitudes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508760"/>
            <a:ext cx="10789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Aquí llegan todas las solicitudes enviadas desde el formulario público, más las que registre el personal.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48640" y="2286000"/>
            <a:ext cx="2606040" cy="1554480"/>
          </a:xfrm>
          <a:prstGeom prst="roundRect">
            <a:avLst>
              <a:gd name="adj" fmla="val 5882"/>
            </a:avLst>
          </a:prstGeom>
          <a:solidFill>
            <a:srgbClr val="FAF9FC"/>
          </a:solidFill>
          <a:ln/>
        </p:spPr>
      </p:sp>
      <p:sp>
        <p:nvSpPr>
          <p:cNvPr id="6" name="Shape 4"/>
          <p:cNvSpPr/>
          <p:nvPr/>
        </p:nvSpPr>
        <p:spPr>
          <a:xfrm>
            <a:off x="548640" y="2286000"/>
            <a:ext cx="2606040" cy="73152"/>
          </a:xfrm>
          <a:prstGeom prst="rect">
            <a:avLst/>
          </a:prstGeom>
          <a:solidFill>
            <a:srgbClr val="A506AD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2487168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21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731520" y="2816352"/>
            <a:ext cx="2286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Todas las solicitudes registradas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3337560" y="2286000"/>
            <a:ext cx="2606040" cy="1554480"/>
          </a:xfrm>
          <a:prstGeom prst="roundRect">
            <a:avLst>
              <a:gd name="adj" fmla="val 5882"/>
            </a:avLst>
          </a:prstGeom>
          <a:solidFill>
            <a:srgbClr val="FAF9FC"/>
          </a:solidFill>
          <a:ln/>
        </p:spPr>
      </p:sp>
      <p:sp>
        <p:nvSpPr>
          <p:cNvPr id="10" name="Shape 8"/>
          <p:cNvSpPr/>
          <p:nvPr/>
        </p:nvSpPr>
        <p:spPr>
          <a:xfrm>
            <a:off x="3337560" y="2286000"/>
            <a:ext cx="2606040" cy="73152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11" name="Text 9"/>
          <p:cNvSpPr/>
          <p:nvPr/>
        </p:nvSpPr>
        <p:spPr>
          <a:xfrm>
            <a:off x="3520440" y="2487168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21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Pendientes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3520440" y="2816352"/>
            <a:ext cx="2286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Aún no se ha empezado a atender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6126480" y="2286000"/>
            <a:ext cx="2606040" cy="1554480"/>
          </a:xfrm>
          <a:prstGeom prst="roundRect">
            <a:avLst>
              <a:gd name="adj" fmla="val 5882"/>
            </a:avLst>
          </a:prstGeom>
          <a:solidFill>
            <a:srgbClr val="FAF9FC"/>
          </a:solidFill>
          <a:ln/>
        </p:spPr>
      </p:sp>
      <p:sp>
        <p:nvSpPr>
          <p:cNvPr id="14" name="Shape 12"/>
          <p:cNvSpPr/>
          <p:nvPr/>
        </p:nvSpPr>
        <p:spPr>
          <a:xfrm>
            <a:off x="6126480" y="2286000"/>
            <a:ext cx="2606040" cy="73152"/>
          </a:xfrm>
          <a:prstGeom prst="rect">
            <a:avLst/>
          </a:prstGeom>
          <a:solidFill>
            <a:srgbClr val="0362CF"/>
          </a:solidFill>
          <a:ln/>
        </p:spPr>
      </p:sp>
      <p:sp>
        <p:nvSpPr>
          <p:cNvPr id="15" name="Text 13"/>
          <p:cNvSpPr/>
          <p:nvPr/>
        </p:nvSpPr>
        <p:spPr>
          <a:xfrm>
            <a:off x="6309360" y="2487168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21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Proceso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309360" y="2816352"/>
            <a:ext cx="2286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está trabajando en ellas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8915400" y="2286000"/>
            <a:ext cx="2606040" cy="1554480"/>
          </a:xfrm>
          <a:prstGeom prst="roundRect">
            <a:avLst>
              <a:gd name="adj" fmla="val 5882"/>
            </a:avLst>
          </a:prstGeom>
          <a:solidFill>
            <a:srgbClr val="FAF9FC"/>
          </a:solidFill>
          <a:ln/>
        </p:spPr>
      </p:sp>
      <p:sp>
        <p:nvSpPr>
          <p:cNvPr id="18" name="Shape 16"/>
          <p:cNvSpPr/>
          <p:nvPr/>
        </p:nvSpPr>
        <p:spPr>
          <a:xfrm>
            <a:off x="8915400" y="2286000"/>
            <a:ext cx="2606040" cy="73152"/>
          </a:xfrm>
          <a:prstGeom prst="rect">
            <a:avLst/>
          </a:prstGeom>
          <a:solidFill>
            <a:srgbClr val="1F9D55"/>
          </a:solidFill>
          <a:ln/>
        </p:spPr>
      </p:sp>
      <p:sp>
        <p:nvSpPr>
          <p:cNvPr id="19" name="Text 17"/>
          <p:cNvSpPr/>
          <p:nvPr/>
        </p:nvSpPr>
        <p:spPr>
          <a:xfrm>
            <a:off x="9098280" y="2487168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21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Finalizados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9098280" y="2816352"/>
            <a:ext cx="2286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 se resolvieron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548640" y="416052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A506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Filtros disponibles: Parroquia y Estado, para encontrar solicitudes específicas en segundos.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548640" y="461772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A506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fila tiene un botón "Ver" para abrir el detalle completo de la solicitud.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IMMUJEL · Taller de Capacitación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9902952" y="647395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A506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TRABAJAR UN CASO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216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Gestionar el detalle de una solicitud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828800"/>
            <a:ext cx="457200" cy="457200"/>
          </a:xfrm>
          <a:prstGeom prst="ellipse">
            <a:avLst/>
          </a:prstGeom>
          <a:solidFill>
            <a:srgbClr val="A506AD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8288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1280160" y="1773936"/>
            <a:ext cx="4663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21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 en "Ver"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280160" y="2084832"/>
            <a:ext cx="4663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Abre todos los datos: contacto, parroquia, tipo y descripción.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40080" y="2788920"/>
            <a:ext cx="457200" cy="457200"/>
          </a:xfrm>
          <a:prstGeom prst="ellipse">
            <a:avLst/>
          </a:prstGeom>
          <a:solidFill>
            <a:srgbClr val="A506AD"/>
          </a:solidFill>
          <a:ln/>
        </p:spPr>
      </p:sp>
      <p:sp>
        <p:nvSpPr>
          <p:cNvPr id="9" name="Text 7"/>
          <p:cNvSpPr/>
          <p:nvPr/>
        </p:nvSpPr>
        <p:spPr>
          <a:xfrm>
            <a:off x="640080" y="27889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1280160" y="2734056"/>
            <a:ext cx="4663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21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Agregar una nota interna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1280160" y="3044952"/>
            <a:ext cx="4663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Solo la ve el equipo — útil para dejar constancia de avances.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40080" y="3749040"/>
            <a:ext cx="457200" cy="457200"/>
          </a:xfrm>
          <a:prstGeom prst="ellipse">
            <a:avLst/>
          </a:prstGeom>
          <a:solidFill>
            <a:srgbClr val="A506AD"/>
          </a:solidFill>
          <a:ln/>
        </p:spPr>
      </p:sp>
      <p:sp>
        <p:nvSpPr>
          <p:cNvPr id="13" name="Text 11"/>
          <p:cNvSpPr/>
          <p:nvPr/>
        </p:nvSpPr>
        <p:spPr>
          <a:xfrm>
            <a:off x="640080" y="37490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1280160" y="3694176"/>
            <a:ext cx="4663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21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Asignar a una asesora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1280160" y="4005072"/>
            <a:ext cx="4663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Solo disponible para cuentas con rol Admin.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40080" y="4709160"/>
            <a:ext cx="457200" cy="457200"/>
          </a:xfrm>
          <a:prstGeom prst="ellipse">
            <a:avLst/>
          </a:prstGeom>
          <a:solidFill>
            <a:srgbClr val="A506AD"/>
          </a:solidFill>
          <a:ln/>
        </p:spPr>
      </p:sp>
      <p:sp>
        <p:nvSpPr>
          <p:cNvPr id="17" name="Text 15"/>
          <p:cNvSpPr/>
          <p:nvPr/>
        </p:nvSpPr>
        <p:spPr>
          <a:xfrm>
            <a:off x="640080" y="47091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1280160" y="4654296"/>
            <a:ext cx="4663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21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Cambiar el estado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1280160" y="4965192"/>
            <a:ext cx="4663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Proceso, Finalizar o Cancelar, según corresponda.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6492240" y="1828800"/>
            <a:ext cx="5074920" cy="3794760"/>
          </a:xfrm>
          <a:prstGeom prst="roundRect">
            <a:avLst>
              <a:gd name="adj" fmla="val 2892"/>
            </a:avLst>
          </a:prstGeom>
          <a:solidFill>
            <a:srgbClr val="02162E"/>
          </a:solidFill>
          <a:ln/>
        </p:spPr>
      </p:sp>
      <p:sp>
        <p:nvSpPr>
          <p:cNvPr id="21" name="Shape 19"/>
          <p:cNvSpPr/>
          <p:nvPr/>
        </p:nvSpPr>
        <p:spPr>
          <a:xfrm>
            <a:off x="6903720" y="2194560"/>
            <a:ext cx="640080" cy="640080"/>
          </a:xfrm>
          <a:prstGeom prst="ellipse">
            <a:avLst/>
          </a:prstGeom>
          <a:solidFill>
            <a:srgbClr val="1F9D55"/>
          </a:solidFill>
          <a:ln/>
        </p:spPr>
      </p:sp>
      <p:sp>
        <p:nvSpPr>
          <p:cNvPr id="22" name="Text 20"/>
          <p:cNvSpPr/>
          <p:nvPr/>
        </p:nvSpPr>
        <p:spPr>
          <a:xfrm>
            <a:off x="6903720" y="21945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</a:t>
            </a:r>
            <a:endParaRPr lang="en-US" sz="2400" dirty="0"/>
          </a:p>
        </p:txBody>
      </p:sp>
      <p:sp>
        <p:nvSpPr>
          <p:cNvPr id="23" name="Text 21"/>
          <p:cNvSpPr/>
          <p:nvPr/>
        </p:nvSpPr>
        <p:spPr>
          <a:xfrm>
            <a:off x="7726680" y="224028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Buena práctica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6903720" y="2880360"/>
            <a:ext cx="443484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35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Actualiza siempre el estado de una solicitud cuando cambie de fase. Así todo el equipo sabe qué está pendiente sin tener que preguntar por WhatsApp o en persona.</a:t>
            </a:r>
            <a:endParaRPr lang="en-US" sz="1350" dirty="0"/>
          </a:p>
        </p:txBody>
      </p:sp>
      <p:sp>
        <p:nvSpPr>
          <p:cNvPr id="25" name="Text 23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IMMUJEL · Taller de Capacitación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9902952" y="647395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A506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ATENCIÓN PRESENCIAL O TELEFÓNICA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216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Registrar una asesoría manual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50876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 alguien llega en persona o llama por teléfono, no hace falta pedirle que use una computadora.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822960" y="2377440"/>
            <a:ext cx="457200" cy="457200"/>
          </a:xfrm>
          <a:prstGeom prst="ellipse">
            <a:avLst/>
          </a:prstGeom>
          <a:solidFill>
            <a:srgbClr val="A506AD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23774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463040" y="2322576"/>
            <a:ext cx="8961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21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Botón "Nueva Asesoría"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463040" y="2633472"/>
            <a:ext cx="8961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Arriba a la derecha, dentro de la pestaña Asesorías.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822960" y="3337560"/>
            <a:ext cx="457200" cy="457200"/>
          </a:xfrm>
          <a:prstGeom prst="ellipse">
            <a:avLst/>
          </a:prstGeom>
          <a:solidFill>
            <a:srgbClr val="A506AD"/>
          </a:solidFill>
          <a:ln/>
        </p:spPr>
      </p:sp>
      <p:sp>
        <p:nvSpPr>
          <p:cNvPr id="10" name="Text 8"/>
          <p:cNvSpPr/>
          <p:nvPr/>
        </p:nvSpPr>
        <p:spPr>
          <a:xfrm>
            <a:off x="822960" y="33375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1463040" y="3282696"/>
            <a:ext cx="8961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21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Completar los datos de la persona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1463040" y="3593592"/>
            <a:ext cx="8961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marcar "Solicitud anónima" si así lo pide.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822960" y="4297680"/>
            <a:ext cx="457200" cy="457200"/>
          </a:xfrm>
          <a:prstGeom prst="ellipse">
            <a:avLst/>
          </a:prstGeom>
          <a:solidFill>
            <a:srgbClr val="A506AD"/>
          </a:solidFill>
          <a:ln/>
        </p:spPr>
      </p:sp>
      <p:sp>
        <p:nvSpPr>
          <p:cNvPr id="14" name="Text 12"/>
          <p:cNvSpPr/>
          <p:nvPr/>
        </p:nvSpPr>
        <p:spPr>
          <a:xfrm>
            <a:off x="822960" y="42976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1463040" y="4242816"/>
            <a:ext cx="8961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21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Presionar "Crear asesoría"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1463040" y="4553712"/>
            <a:ext cx="8961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Queda registrada igual que si hubiera llegado por el sitio web.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IMMUJEL · Taller de Capacitación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9902952" y="647395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A506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PESTAÑA CMS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216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Crear una nueva publicación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2103120"/>
            <a:ext cx="2606040" cy="3291840"/>
          </a:xfrm>
          <a:prstGeom prst="roundRect">
            <a:avLst>
              <a:gd name="adj" fmla="val 4211"/>
            </a:avLst>
          </a:prstGeom>
          <a:solidFill>
            <a:srgbClr val="FAF9FC"/>
          </a:solidFill>
          <a:ln/>
        </p:spPr>
      </p:sp>
      <p:sp>
        <p:nvSpPr>
          <p:cNvPr id="5" name="Shape 3"/>
          <p:cNvSpPr/>
          <p:nvPr/>
        </p:nvSpPr>
        <p:spPr>
          <a:xfrm>
            <a:off x="1481328" y="2377440"/>
            <a:ext cx="731520" cy="731520"/>
          </a:xfrm>
          <a:prstGeom prst="ellipse">
            <a:avLst/>
          </a:prstGeom>
          <a:solidFill>
            <a:srgbClr val="A506AD"/>
          </a:solidFill>
          <a:ln/>
        </p:spPr>
      </p:sp>
      <p:sp>
        <p:nvSpPr>
          <p:cNvPr id="6" name="Text 4"/>
          <p:cNvSpPr/>
          <p:nvPr/>
        </p:nvSpPr>
        <p:spPr>
          <a:xfrm>
            <a:off x="1481328" y="237744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731520" y="3337560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21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Información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777240" y="3749040"/>
            <a:ext cx="21488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50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Título, tipo (Semanario/Noticiero), fecha y resumen.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3337560" y="2103120"/>
            <a:ext cx="2606040" cy="3291840"/>
          </a:xfrm>
          <a:prstGeom prst="roundRect">
            <a:avLst>
              <a:gd name="adj" fmla="val 4211"/>
            </a:avLst>
          </a:prstGeom>
          <a:solidFill>
            <a:srgbClr val="FAF9FC"/>
          </a:solidFill>
          <a:ln/>
        </p:spPr>
      </p:sp>
      <p:sp>
        <p:nvSpPr>
          <p:cNvPr id="10" name="Shape 8"/>
          <p:cNvSpPr/>
          <p:nvPr/>
        </p:nvSpPr>
        <p:spPr>
          <a:xfrm>
            <a:off x="4270248" y="2377440"/>
            <a:ext cx="731520" cy="731520"/>
          </a:xfrm>
          <a:prstGeom prst="ellipse">
            <a:avLst/>
          </a:prstGeom>
          <a:solidFill>
            <a:srgbClr val="A506AD"/>
          </a:solidFill>
          <a:ln/>
        </p:spPr>
      </p:sp>
      <p:sp>
        <p:nvSpPr>
          <p:cNvPr id="11" name="Text 9"/>
          <p:cNvSpPr/>
          <p:nvPr/>
        </p:nvSpPr>
        <p:spPr>
          <a:xfrm>
            <a:off x="4270248" y="237744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3000" dirty="0"/>
          </a:p>
        </p:txBody>
      </p:sp>
      <p:sp>
        <p:nvSpPr>
          <p:cNvPr id="12" name="Text 10"/>
          <p:cNvSpPr/>
          <p:nvPr/>
        </p:nvSpPr>
        <p:spPr>
          <a:xfrm>
            <a:off x="3520440" y="3337560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21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Contenido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3566160" y="3749040"/>
            <a:ext cx="21488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50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texto completo, con negrita, listas y títulos.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6126480" y="2103120"/>
            <a:ext cx="2606040" cy="3291840"/>
          </a:xfrm>
          <a:prstGeom prst="roundRect">
            <a:avLst>
              <a:gd name="adj" fmla="val 4211"/>
            </a:avLst>
          </a:prstGeom>
          <a:solidFill>
            <a:srgbClr val="FAF9FC"/>
          </a:solidFill>
          <a:ln/>
        </p:spPr>
      </p:sp>
      <p:sp>
        <p:nvSpPr>
          <p:cNvPr id="15" name="Shape 13"/>
          <p:cNvSpPr/>
          <p:nvPr/>
        </p:nvSpPr>
        <p:spPr>
          <a:xfrm>
            <a:off x="7059168" y="2377440"/>
            <a:ext cx="731520" cy="731520"/>
          </a:xfrm>
          <a:prstGeom prst="ellipse">
            <a:avLst/>
          </a:prstGeom>
          <a:solidFill>
            <a:srgbClr val="A506AD"/>
          </a:solidFill>
          <a:ln/>
        </p:spPr>
      </p:sp>
      <p:sp>
        <p:nvSpPr>
          <p:cNvPr id="16" name="Text 14"/>
          <p:cNvSpPr/>
          <p:nvPr/>
        </p:nvSpPr>
        <p:spPr>
          <a:xfrm>
            <a:off x="7059168" y="237744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3000" dirty="0"/>
          </a:p>
        </p:txBody>
      </p:sp>
      <p:sp>
        <p:nvSpPr>
          <p:cNvPr id="17" name="Text 15"/>
          <p:cNvSpPr/>
          <p:nvPr/>
        </p:nvSpPr>
        <p:spPr>
          <a:xfrm>
            <a:off x="6309360" y="3337560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21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Multimedia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6355080" y="3749040"/>
            <a:ext cx="21488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50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Imágenes y documentos PDF, subidos o por URL.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8915400" y="2103120"/>
            <a:ext cx="2606040" cy="3291840"/>
          </a:xfrm>
          <a:prstGeom prst="roundRect">
            <a:avLst>
              <a:gd name="adj" fmla="val 4211"/>
            </a:avLst>
          </a:prstGeom>
          <a:solidFill>
            <a:srgbClr val="FAF9FC"/>
          </a:solidFill>
          <a:ln/>
        </p:spPr>
      </p:sp>
      <p:sp>
        <p:nvSpPr>
          <p:cNvPr id="20" name="Shape 18"/>
          <p:cNvSpPr/>
          <p:nvPr/>
        </p:nvSpPr>
        <p:spPr>
          <a:xfrm>
            <a:off x="9848088" y="2377440"/>
            <a:ext cx="731520" cy="731520"/>
          </a:xfrm>
          <a:prstGeom prst="ellipse">
            <a:avLst/>
          </a:prstGeom>
          <a:solidFill>
            <a:srgbClr val="A506AD"/>
          </a:solidFill>
          <a:ln/>
        </p:spPr>
      </p:sp>
      <p:sp>
        <p:nvSpPr>
          <p:cNvPr id="21" name="Text 19"/>
          <p:cNvSpPr/>
          <p:nvPr/>
        </p:nvSpPr>
        <p:spPr>
          <a:xfrm>
            <a:off x="9848088" y="237744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3000" dirty="0"/>
          </a:p>
        </p:txBody>
      </p:sp>
      <p:sp>
        <p:nvSpPr>
          <p:cNvPr id="22" name="Text 20"/>
          <p:cNvSpPr/>
          <p:nvPr/>
        </p:nvSpPr>
        <p:spPr>
          <a:xfrm>
            <a:off x="9098280" y="3337560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21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Publicado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9144000" y="3749040"/>
            <a:ext cx="21488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50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Activa el interruptor para que sea visible de inmediato.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548640" y="562356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A506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Atajos útiles:  Ctrl+S para guardar   ·   Esc para cerrar sin guardar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IMMUJEL · Taller de Capacitación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9902952" y="647395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A506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ANTES DE CERRAR LA VENTANA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216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Publicado vs. Borrador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920240"/>
            <a:ext cx="5212080" cy="3566160"/>
          </a:xfrm>
          <a:prstGeom prst="roundRect">
            <a:avLst>
              <a:gd name="adj" fmla="val 3077"/>
            </a:avLst>
          </a:prstGeom>
          <a:solidFill>
            <a:srgbClr val="EAF9EF"/>
          </a:solidFill>
          <a:ln w="12700">
            <a:solidFill>
              <a:srgbClr val="1F9D5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14400" y="2240280"/>
            <a:ext cx="640080" cy="640080"/>
          </a:xfrm>
          <a:prstGeom prst="ellipse">
            <a:avLst/>
          </a:prstGeom>
          <a:solidFill>
            <a:srgbClr val="1F9D55"/>
          </a:solidFill>
          <a:ln/>
        </p:spPr>
      </p:sp>
      <p:sp>
        <p:nvSpPr>
          <p:cNvPr id="6" name="Text 4"/>
          <p:cNvSpPr/>
          <p:nvPr/>
        </p:nvSpPr>
        <p:spPr>
          <a:xfrm>
            <a:off x="914400" y="22402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👁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1691640" y="228600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F51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Publicado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914400" y="3063240"/>
            <a:ext cx="448056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300" dirty="0">
                <a:solidFill>
                  <a:srgbClr val="0F51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interruptor está activado. La publicación es visible de inmediato para todas las usuarias del sitio, y se envían las notificaciones correspondientes.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035040" y="1920240"/>
            <a:ext cx="5577840" cy="3566160"/>
          </a:xfrm>
          <a:prstGeom prst="roundRect">
            <a:avLst>
              <a:gd name="adj" fmla="val 3077"/>
            </a:avLst>
          </a:prstGeom>
          <a:solidFill>
            <a:srgbClr val="FFF7E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400800" y="2240280"/>
            <a:ext cx="640080" cy="640080"/>
          </a:xfrm>
          <a:prstGeom prst="ellipse">
            <a:avLst/>
          </a:prstGeom>
          <a:solidFill>
            <a:srgbClr val="D97706"/>
          </a:solidFill>
          <a:ln/>
        </p:spPr>
      </p:sp>
      <p:sp>
        <p:nvSpPr>
          <p:cNvPr id="11" name="Text 9"/>
          <p:cNvSpPr/>
          <p:nvPr/>
        </p:nvSpPr>
        <p:spPr>
          <a:xfrm>
            <a:off x="6400800" y="22402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📝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7178040" y="228600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7C4A0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Borrador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6400800" y="3063240"/>
            <a:ext cx="484632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300" dirty="0">
                <a:solidFill>
                  <a:srgbClr val="7C4A0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interruptor está apagado. NO es visible para las usuarias — útil para preparar contenido con anticipación sin publicarlo todavía.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IMMUJEL · Taller de Capacitación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9902952" y="647395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A506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SOLO ADMINISTRADORAS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216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Pestaña Usuarias: gestionar roles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50876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Permite ver a todo el personal registrado y cambiar su nivel de acceso.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822960" y="2286000"/>
            <a:ext cx="457200" cy="457200"/>
          </a:xfrm>
          <a:prstGeom prst="ellipse">
            <a:avLst/>
          </a:prstGeom>
          <a:solidFill>
            <a:srgbClr val="A506AD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22860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463040" y="2231136"/>
            <a:ext cx="9418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21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Buscar a la persona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463040" y="2542032"/>
            <a:ext cx="9418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nombre, usuario o correo — o filtrar por rol actual.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822960" y="3246120"/>
            <a:ext cx="457200" cy="457200"/>
          </a:xfrm>
          <a:prstGeom prst="ellipse">
            <a:avLst/>
          </a:prstGeom>
          <a:solidFill>
            <a:srgbClr val="A506AD"/>
          </a:solidFill>
          <a:ln/>
        </p:spPr>
      </p:sp>
      <p:sp>
        <p:nvSpPr>
          <p:cNvPr id="10" name="Text 8"/>
          <p:cNvSpPr/>
          <p:nvPr/>
        </p:nvSpPr>
        <p:spPr>
          <a:xfrm>
            <a:off x="822960" y="32461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1463040" y="3191256"/>
            <a:ext cx="9418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21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Elegir el nuevo rol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1463040" y="3502152"/>
            <a:ext cx="9418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Desde el menú desplegable en la columna "Nuevo rol".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822960" y="4206240"/>
            <a:ext cx="457200" cy="457200"/>
          </a:xfrm>
          <a:prstGeom prst="ellipse">
            <a:avLst/>
          </a:prstGeom>
          <a:solidFill>
            <a:srgbClr val="A506AD"/>
          </a:solidFill>
          <a:ln/>
        </p:spPr>
      </p:sp>
      <p:sp>
        <p:nvSpPr>
          <p:cNvPr id="14" name="Text 12"/>
          <p:cNvSpPr/>
          <p:nvPr/>
        </p:nvSpPr>
        <p:spPr>
          <a:xfrm>
            <a:off x="822960" y="42062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1463040" y="4151376"/>
            <a:ext cx="9418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21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Confirmar el cambio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1463040" y="4462272"/>
            <a:ext cx="9418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la ventana de confirmación que aparece en pantalla.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822960" y="5074920"/>
            <a:ext cx="10515600" cy="1051560"/>
          </a:xfrm>
          <a:prstGeom prst="roundRect">
            <a:avLst>
              <a:gd name="adj" fmla="val 8696"/>
            </a:avLst>
          </a:prstGeom>
          <a:solidFill>
            <a:srgbClr val="FFF7E6"/>
          </a:solidFill>
          <a:ln/>
        </p:spPr>
      </p:sp>
      <p:sp>
        <p:nvSpPr>
          <p:cNvPr id="18" name="Text 16"/>
          <p:cNvSpPr/>
          <p:nvPr/>
        </p:nvSpPr>
        <p:spPr>
          <a:xfrm>
            <a:off x="1051560" y="5074920"/>
            <a:ext cx="100584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3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Importante:  </a:t>
            </a:r>
            <a:r>
              <a:rPr lang="en-US" sz="1300" dirty="0">
                <a:solidFill>
                  <a:srgbClr val="7C4A0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rol Admin da acceso completo, incluyendo el control de roles de las demás. Asígnalo solo a quien realmente lo necesite.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IMMUJEL · Taller de Capacitación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9902952" y="647395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A506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ANTES DE LA PRÁCTICA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216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Buenas prácticas y errores comunes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920240"/>
            <a:ext cx="5394960" cy="3977640"/>
          </a:xfrm>
          <a:prstGeom prst="roundRect">
            <a:avLst>
              <a:gd name="adj" fmla="val 2759"/>
            </a:avLst>
          </a:prstGeom>
          <a:solidFill>
            <a:srgbClr val="EAF9EF"/>
          </a:solidFill>
          <a:ln/>
        </p:spPr>
      </p:sp>
      <p:sp>
        <p:nvSpPr>
          <p:cNvPr id="5" name="Text 3"/>
          <p:cNvSpPr/>
          <p:nvPr/>
        </p:nvSpPr>
        <p:spPr>
          <a:xfrm>
            <a:off x="868680" y="214884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F51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 Recomendado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868680" y="2651760"/>
            <a:ext cx="484632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20000"/>
              </a:lnSpc>
              <a:spcAft>
                <a:spcPts val="1400"/>
              </a:spcAft>
              <a:buSzPct val="100000"/>
              <a:buChar char="✓"/>
            </a:pPr>
            <a:r>
              <a:rPr lang="en-US" sz="1300" dirty="0">
                <a:solidFill>
                  <a:srgbClr val="0F51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Actualizar el estado de cada solicitud apenas cambie.</a:t>
            </a:r>
            <a:endParaRPr lang="en-US" sz="1300" dirty="0"/>
          </a:p>
          <a:p>
            <a:pPr marL="342900" indent="-342900">
              <a:lnSpc>
                <a:spcPct val="120000"/>
              </a:lnSpc>
              <a:spcAft>
                <a:spcPts val="1400"/>
              </a:spcAft>
              <a:buSzPct val="100000"/>
              <a:buChar char="✓"/>
            </a:pPr>
            <a:r>
              <a:rPr lang="en-US" sz="1300" dirty="0">
                <a:solidFill>
                  <a:srgbClr val="0F51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Revisar el interruptor "Publicado" antes de cerrar el CMS.</a:t>
            </a:r>
            <a:endParaRPr lang="en-US" sz="1300" dirty="0"/>
          </a:p>
          <a:p>
            <a:pPr marL="342900" indent="-342900">
              <a:lnSpc>
                <a:spcPct val="120000"/>
              </a:lnSpc>
              <a:spcAft>
                <a:spcPts val="1400"/>
              </a:spcAft>
              <a:buSzPct val="100000"/>
              <a:buChar char="✓"/>
            </a:pPr>
            <a:r>
              <a:rPr lang="en-US" sz="1300" dirty="0">
                <a:solidFill>
                  <a:srgbClr val="0F51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Usar el modo incógnito cuando la usuaria lo pida.</a:t>
            </a:r>
            <a:endParaRPr lang="en-US" sz="1300" dirty="0"/>
          </a:p>
          <a:p>
            <a:pPr marL="342900" indent="-342900">
              <a:lnSpc>
                <a:spcPct val="120000"/>
              </a:lnSpc>
              <a:spcAft>
                <a:spcPts val="1400"/>
              </a:spcAft>
              <a:buSzPct val="100000"/>
              <a:buChar char="✓"/>
            </a:pPr>
            <a:r>
              <a:rPr lang="en-US" sz="1300" dirty="0">
                <a:solidFill>
                  <a:srgbClr val="0F51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Cerrar sesión en computadoras compartidas.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172200" y="1920240"/>
            <a:ext cx="5440680" cy="3977640"/>
          </a:xfrm>
          <a:prstGeom prst="roundRect">
            <a:avLst>
              <a:gd name="adj" fmla="val 2759"/>
            </a:avLst>
          </a:prstGeom>
          <a:solidFill>
            <a:srgbClr val="FDEEEE"/>
          </a:solidFill>
          <a:ln/>
        </p:spPr>
      </p:sp>
      <p:sp>
        <p:nvSpPr>
          <p:cNvPr id="8" name="Text 6"/>
          <p:cNvSpPr/>
          <p:nvPr/>
        </p:nvSpPr>
        <p:spPr>
          <a:xfrm>
            <a:off x="6492240" y="214884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9B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✘  Evitar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492240" y="2651760"/>
            <a:ext cx="484632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20000"/>
              </a:lnSpc>
              <a:spcAft>
                <a:spcPts val="1400"/>
              </a:spcAft>
              <a:buSzPct val="100000"/>
              <a:buChar char="✗"/>
            </a:pPr>
            <a:r>
              <a:rPr lang="en-US" sz="1300" dirty="0">
                <a:solidFill>
                  <a:srgbClr val="9B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Dejar solicitudes sin asignar por varios días.</a:t>
            </a:r>
            <a:endParaRPr lang="en-US" sz="1300" dirty="0"/>
          </a:p>
          <a:p>
            <a:pPr marL="342900" indent="-342900">
              <a:lnSpc>
                <a:spcPct val="120000"/>
              </a:lnSpc>
              <a:spcAft>
                <a:spcPts val="1400"/>
              </a:spcAft>
              <a:buSzPct val="100000"/>
              <a:buChar char="✗"/>
            </a:pPr>
            <a:r>
              <a:rPr lang="en-US" sz="1300" dirty="0">
                <a:solidFill>
                  <a:srgbClr val="9B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Asignar el rol Admin sin necesidad real.</a:t>
            </a:r>
            <a:endParaRPr lang="en-US" sz="1300" dirty="0"/>
          </a:p>
          <a:p>
            <a:pPr marL="342900" indent="-342900">
              <a:lnSpc>
                <a:spcPct val="120000"/>
              </a:lnSpc>
              <a:spcAft>
                <a:spcPts val="1400"/>
              </a:spcAft>
              <a:buSzPct val="100000"/>
              <a:buChar char="✗"/>
            </a:pPr>
            <a:r>
              <a:rPr lang="en-US" sz="1300" dirty="0">
                <a:solidFill>
                  <a:srgbClr val="9B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Compartir la contraseña de la cuenta con otra persona.</a:t>
            </a:r>
            <a:endParaRPr lang="en-US" sz="1300" dirty="0"/>
          </a:p>
          <a:p>
            <a:pPr marL="342900" indent="-342900">
              <a:lnSpc>
                <a:spcPct val="120000"/>
              </a:lnSpc>
              <a:spcAft>
                <a:spcPts val="1400"/>
              </a:spcAft>
              <a:buSzPct val="100000"/>
              <a:buChar char="✗"/>
            </a:pPr>
            <a:r>
              <a:rPr lang="en-US" sz="1300" dirty="0">
                <a:solidFill>
                  <a:srgbClr val="9B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Publicar contenido sin revisar el resumen y las imágenes.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IMMUJEL · Taller de Capacitación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9902952" y="647395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A506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DUDAS COMUNES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216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Preguntas frecuentes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920240"/>
            <a:ext cx="502920" cy="502920"/>
          </a:xfrm>
          <a:prstGeom prst="ellipse">
            <a:avLst/>
          </a:prstGeom>
          <a:solidFill>
            <a:srgbClr val="0362CF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9202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?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371600" y="1874520"/>
            <a:ext cx="9784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21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me llegó el correo de confirmación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371600" y="2240280"/>
            <a:ext cx="9784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Revisa la carpeta de correo no deseado (Spam).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640080" y="2971800"/>
            <a:ext cx="502920" cy="502920"/>
          </a:xfrm>
          <a:prstGeom prst="ellipse">
            <a:avLst/>
          </a:prstGeom>
          <a:solidFill>
            <a:srgbClr val="0362CF"/>
          </a:solidFill>
          <a:ln/>
        </p:spPr>
      </p:sp>
      <p:sp>
        <p:nvSpPr>
          <p:cNvPr id="9" name="Text 7"/>
          <p:cNvSpPr/>
          <p:nvPr/>
        </p:nvSpPr>
        <p:spPr>
          <a:xfrm>
            <a:off x="640080" y="29718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?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1371600" y="2926080"/>
            <a:ext cx="9784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21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 solicitud desapareció de la lista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1371600" y="3291840"/>
            <a:ext cx="9784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Revisa los filtros de Parroquia y Estado, y da clic en "Limpiar filtros".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640080" y="4023360"/>
            <a:ext cx="502920" cy="502920"/>
          </a:xfrm>
          <a:prstGeom prst="ellipse">
            <a:avLst/>
          </a:prstGeom>
          <a:solidFill>
            <a:srgbClr val="0362CF"/>
          </a:solidFill>
          <a:ln/>
        </p:spPr>
      </p:sp>
      <p:sp>
        <p:nvSpPr>
          <p:cNvPr id="13" name="Text 11"/>
          <p:cNvSpPr/>
          <p:nvPr/>
        </p:nvSpPr>
        <p:spPr>
          <a:xfrm>
            <a:off x="640080" y="40233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?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1371600" y="3977640"/>
            <a:ext cx="9784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21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Publiqué algo y no aparece en el sitio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1371600" y="4343400"/>
            <a:ext cx="9784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Verifica que el interruptor "Publicado" esté activado.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640080" y="5074920"/>
            <a:ext cx="502920" cy="502920"/>
          </a:xfrm>
          <a:prstGeom prst="ellipse">
            <a:avLst/>
          </a:prstGeom>
          <a:solidFill>
            <a:srgbClr val="0362CF"/>
          </a:solidFill>
          <a:ln/>
        </p:spPr>
      </p:sp>
      <p:sp>
        <p:nvSpPr>
          <p:cNvPr id="17" name="Text 15"/>
          <p:cNvSpPr/>
          <p:nvPr/>
        </p:nvSpPr>
        <p:spPr>
          <a:xfrm>
            <a:off x="640080" y="50749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?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1371600" y="5029200"/>
            <a:ext cx="9784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21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veo la pestaña "Usuarias"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1371600" y="5394960"/>
            <a:ext cx="9784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Esa pestaña solo la ven las cuentas con rol Admin.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IMMUJEL · Taller de Capacitación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9902952" y="647395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216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875520" y="4389120"/>
            <a:ext cx="4114800" cy="4114800"/>
          </a:xfrm>
          <a:prstGeom prst="ellipse">
            <a:avLst/>
          </a:prstGeom>
          <a:solidFill>
            <a:srgbClr val="A506AD">
              <a:alpha val="20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1148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A506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MANOS A LA OBRA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48640" y="68580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48640" y="685800"/>
            <a:ext cx="10058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Práctica guiada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640080" y="1828800"/>
            <a:ext cx="457200" cy="457200"/>
          </a:xfrm>
          <a:prstGeom prst="ellipse">
            <a:avLst/>
          </a:prstGeom>
          <a:solidFill>
            <a:srgbClr val="F66EFD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18288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21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325880" y="1810512"/>
            <a:ext cx="10058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Iniciar sesión con tu cuenta.</a:t>
            </a:r>
            <a:endParaRPr lang="en-US" sz="1450" dirty="0"/>
          </a:p>
        </p:txBody>
      </p:sp>
      <p:sp>
        <p:nvSpPr>
          <p:cNvPr id="9" name="Shape 7"/>
          <p:cNvSpPr/>
          <p:nvPr/>
        </p:nvSpPr>
        <p:spPr>
          <a:xfrm>
            <a:off x="640080" y="2606040"/>
            <a:ext cx="457200" cy="457200"/>
          </a:xfrm>
          <a:prstGeom prst="ellipse">
            <a:avLst/>
          </a:prstGeom>
          <a:solidFill>
            <a:srgbClr val="F66EFD"/>
          </a:solidFill>
          <a:ln/>
        </p:spPr>
      </p:sp>
      <p:sp>
        <p:nvSpPr>
          <p:cNvPr id="10" name="Text 8"/>
          <p:cNvSpPr/>
          <p:nvPr/>
        </p:nvSpPr>
        <p:spPr>
          <a:xfrm>
            <a:off x="640080" y="26060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21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325880" y="2587752"/>
            <a:ext cx="10058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Enviar una solicitud de prueba desde el formulario público (modo normal e incógnito).</a:t>
            </a:r>
            <a:endParaRPr lang="en-US" sz="1450" dirty="0"/>
          </a:p>
        </p:txBody>
      </p:sp>
      <p:sp>
        <p:nvSpPr>
          <p:cNvPr id="12" name="Shape 10"/>
          <p:cNvSpPr/>
          <p:nvPr/>
        </p:nvSpPr>
        <p:spPr>
          <a:xfrm>
            <a:off x="640080" y="3383280"/>
            <a:ext cx="457200" cy="457200"/>
          </a:xfrm>
          <a:prstGeom prst="ellipse">
            <a:avLst/>
          </a:prstGeom>
          <a:solidFill>
            <a:srgbClr val="F66EFD"/>
          </a:solidFill>
          <a:ln/>
        </p:spPr>
      </p:sp>
      <p:sp>
        <p:nvSpPr>
          <p:cNvPr id="13" name="Text 11"/>
          <p:cNvSpPr/>
          <p:nvPr/>
        </p:nvSpPr>
        <p:spPr>
          <a:xfrm>
            <a:off x="640080" y="33832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21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325880" y="3364992"/>
            <a:ext cx="10058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Entrar al panel y encontrar esa solicitud en la pestaña Asesorías.</a:t>
            </a:r>
            <a:endParaRPr lang="en-US" sz="1450" dirty="0"/>
          </a:p>
        </p:txBody>
      </p:sp>
      <p:sp>
        <p:nvSpPr>
          <p:cNvPr id="15" name="Shape 13"/>
          <p:cNvSpPr/>
          <p:nvPr/>
        </p:nvSpPr>
        <p:spPr>
          <a:xfrm>
            <a:off x="640080" y="4160520"/>
            <a:ext cx="457200" cy="457200"/>
          </a:xfrm>
          <a:prstGeom prst="ellipse">
            <a:avLst/>
          </a:prstGeom>
          <a:solidFill>
            <a:srgbClr val="F66EFD"/>
          </a:solidFill>
          <a:ln/>
        </p:spPr>
      </p:sp>
      <p:sp>
        <p:nvSpPr>
          <p:cNvPr id="16" name="Text 14"/>
          <p:cNvSpPr/>
          <p:nvPr/>
        </p:nvSpPr>
        <p:spPr>
          <a:xfrm>
            <a:off x="640080" y="41605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21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325880" y="4142232"/>
            <a:ext cx="10058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Agregar una nota interna y cambiar el estado a "En Proceso".</a:t>
            </a:r>
            <a:endParaRPr lang="en-US" sz="1450" dirty="0"/>
          </a:p>
        </p:txBody>
      </p:sp>
      <p:sp>
        <p:nvSpPr>
          <p:cNvPr id="18" name="Shape 16"/>
          <p:cNvSpPr/>
          <p:nvPr/>
        </p:nvSpPr>
        <p:spPr>
          <a:xfrm>
            <a:off x="640080" y="4937760"/>
            <a:ext cx="457200" cy="457200"/>
          </a:xfrm>
          <a:prstGeom prst="ellipse">
            <a:avLst/>
          </a:prstGeom>
          <a:solidFill>
            <a:srgbClr val="F66EFD"/>
          </a:solidFill>
          <a:ln/>
        </p:spPr>
      </p:sp>
      <p:sp>
        <p:nvSpPr>
          <p:cNvPr id="19" name="Text 17"/>
          <p:cNvSpPr/>
          <p:nvPr/>
        </p:nvSpPr>
        <p:spPr>
          <a:xfrm>
            <a:off x="640080" y="49377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21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1325880" y="4919472"/>
            <a:ext cx="10058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Crear una publicación de prueba en el CMS y guardarla como borrador.</a:t>
            </a:r>
            <a:endParaRPr lang="en-US" sz="1450" dirty="0"/>
          </a:p>
        </p:txBody>
      </p:sp>
      <p:sp>
        <p:nvSpPr>
          <p:cNvPr id="21" name="Text 19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IMMUJEL · Taller de Capacitación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9902952" y="647395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A506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RECORDAR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216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Resumen del taller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2194560"/>
            <a:ext cx="914400" cy="914400"/>
          </a:xfrm>
          <a:prstGeom prst="ellipse">
            <a:avLst/>
          </a:prstGeom>
          <a:solidFill>
            <a:srgbClr val="A506AD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219456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🌐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365760" y="3291840"/>
            <a:ext cx="3566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21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sitio público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457200" y="3840480"/>
            <a:ext cx="3383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5000"/>
              </a:lnSpc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Registro, formulario de asesoría y publicaciones.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343400" y="2194560"/>
            <a:ext cx="914400" cy="914400"/>
          </a:xfrm>
          <a:prstGeom prst="ellipse">
            <a:avLst/>
          </a:prstGeom>
          <a:solidFill>
            <a:srgbClr val="A506AD"/>
          </a:solidFill>
          <a:ln/>
        </p:spPr>
      </p:sp>
      <p:sp>
        <p:nvSpPr>
          <p:cNvPr id="9" name="Text 7"/>
          <p:cNvSpPr/>
          <p:nvPr/>
        </p:nvSpPr>
        <p:spPr>
          <a:xfrm>
            <a:off x="4343400" y="219456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🗂️</a:t>
            </a:r>
            <a:endParaRPr lang="en-US" sz="3200" dirty="0"/>
          </a:p>
        </p:txBody>
      </p:sp>
      <p:sp>
        <p:nvSpPr>
          <p:cNvPr id="10" name="Text 8"/>
          <p:cNvSpPr/>
          <p:nvPr/>
        </p:nvSpPr>
        <p:spPr>
          <a:xfrm>
            <a:off x="4069080" y="3291840"/>
            <a:ext cx="3566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21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Panel de Administración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4160520" y="3840480"/>
            <a:ext cx="3383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5000"/>
              </a:lnSpc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Gestión de solicitudes y contenido, según tu rol.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8046720" y="2194560"/>
            <a:ext cx="914400" cy="914400"/>
          </a:xfrm>
          <a:prstGeom prst="ellipse">
            <a:avLst/>
          </a:prstGeom>
          <a:solidFill>
            <a:srgbClr val="A506AD"/>
          </a:solidFill>
          <a:ln/>
        </p:spPr>
      </p:sp>
      <p:sp>
        <p:nvSpPr>
          <p:cNvPr id="13" name="Text 11"/>
          <p:cNvSpPr/>
          <p:nvPr/>
        </p:nvSpPr>
        <p:spPr>
          <a:xfrm>
            <a:off x="8046720" y="219456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🤝</a:t>
            </a:r>
            <a:endParaRPr lang="en-US" sz="3200" dirty="0"/>
          </a:p>
        </p:txBody>
      </p:sp>
      <p:sp>
        <p:nvSpPr>
          <p:cNvPr id="14" name="Text 12"/>
          <p:cNvSpPr/>
          <p:nvPr/>
        </p:nvSpPr>
        <p:spPr>
          <a:xfrm>
            <a:off x="7772400" y="3291840"/>
            <a:ext cx="3566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21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Buenas prácticas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7863840" y="3840480"/>
            <a:ext cx="3383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5000"/>
              </a:lnSpc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Mantén los estados al día y revisa antes de publicar.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40080" y="5303520"/>
            <a:ext cx="10881360" cy="914400"/>
          </a:xfrm>
          <a:prstGeom prst="roundRect">
            <a:avLst>
              <a:gd name="adj" fmla="val 10000"/>
            </a:avLst>
          </a:prstGeom>
          <a:solidFill>
            <a:srgbClr val="FAF9FC"/>
          </a:solidFill>
          <a:ln/>
        </p:spPr>
      </p:sp>
      <p:sp>
        <p:nvSpPr>
          <p:cNvPr id="17" name="Text 15"/>
          <p:cNvSpPr/>
          <p:nvPr/>
        </p:nvSpPr>
        <p:spPr>
          <a:xfrm>
            <a:off x="914400" y="5303520"/>
            <a:ext cx="10332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A506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📖  Recuerda: todo lo visto hoy está también en el Manual de Uso, para consultarlo cuando lo necesites.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IMMUJEL · Taller de Capacitación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9902952" y="647395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9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0216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011680" y="-2011680"/>
            <a:ext cx="5486400" cy="5486400"/>
          </a:xfrm>
          <a:prstGeom prst="ellipse">
            <a:avLst/>
          </a:prstGeom>
          <a:solidFill>
            <a:srgbClr val="A506AD">
              <a:alpha val="22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8686800" y="4572000"/>
            <a:ext cx="5486400" cy="5486400"/>
          </a:xfrm>
          <a:prstGeom prst="ellipse">
            <a:avLst/>
          </a:prstGeom>
          <a:solidFill>
            <a:srgbClr val="0362CF">
              <a:alpha val="22000"/>
            </a:srgbClr>
          </a:solidFill>
          <a:ln/>
        </p:spPr>
      </p:sp>
      <p:pic>
        <p:nvPicPr>
          <p:cNvPr id="4" name="Image 0" descr="./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30952" y="1005840"/>
            <a:ext cx="1280160" cy="128016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57200" y="2651760"/>
            <a:ext cx="1127455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¡Gracias por su participación!</a:t>
            </a:r>
            <a:endParaRPr lang="en-US" sz="3200" dirty="0"/>
          </a:p>
        </p:txBody>
      </p:sp>
      <p:sp>
        <p:nvSpPr>
          <p:cNvPr id="6" name="Text 3"/>
          <p:cNvSpPr/>
          <p:nvPr/>
        </p:nvSpPr>
        <p:spPr>
          <a:xfrm>
            <a:off x="457200" y="3383280"/>
            <a:ext cx="112745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i="1" dirty="0">
                <a:solidFill>
                  <a:srgbClr val="F66E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Preguntas y dudas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457200" y="4937760"/>
            <a:ext cx="11274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Instituto Municipal de la Mujer de Lagunillas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457200" y="5303520"/>
            <a:ext cx="11274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immujel2024@hotmail.com  ·  immujel.vercel.app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22</TotalTime>
  <Words>1489</Words>
  <Application>Microsoft Office PowerPoint</Application>
  <PresentationFormat>Panorámica</PresentationFormat>
  <Paragraphs>283</Paragraphs>
  <Slides>20</Slides>
  <Notes>20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20</vt:i4>
      </vt:variant>
    </vt:vector>
  </HeadingPairs>
  <TitlesOfParts>
    <vt:vector size="24" baseType="lpstr">
      <vt:lpstr>Arial</vt:lpstr>
      <vt:lpstr>Calibri</vt:lpstr>
      <vt:lpstr>Cambria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Jose Daniel Brice Rive</cp:lastModifiedBy>
  <cp:revision>1</cp:revision>
  <dcterms:created xsi:type="dcterms:W3CDTF">2026-07-16T16:39:56Z</dcterms:created>
  <dcterms:modified xsi:type="dcterms:W3CDTF">2026-07-16T17:08:24Z</dcterms:modified>
</cp:coreProperties>
</file>